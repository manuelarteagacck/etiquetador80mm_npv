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Etiquetador 80 milímetros concentra en una sola aplicación la consulta, revisión e impresión de etiquetas para la operación de tienda de Círculo K México.</a:t>
            </a:r>
          </a:p>
          <a:p>
            <a:endParaRPr/>
          </a:p>
          <a:p>
            <a:r>
              <a:t>[Sources]</a:t>
            </a:r>
          </a:p>
          <a:p>
            <a:r>
              <a:t>- Logo: LOGO CIRCLE K.png, recurso local proporcionado en el proyecto.</a:t>
            </a:r>
          </a:p>
          <a:p>
            <a:r>
              <a:t>- Captura: 02_principal.png, aplicación local observada el 31/07/2026.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pantalla principal organiza el trabajo en tres zonas claras: búsqueda, vista previa editable y configuración de impresión. El operador mantiene control del contenido antes de generar la etiqueta.</a:t>
            </a:r>
          </a:p>
          <a:p>
            <a:endParaRPr/>
          </a:p>
          <a:p>
            <a:r>
              <a:t>[Sources]</a:t>
            </a:r>
          </a:p>
          <a:p>
            <a:r>
              <a:t>- Captura: 02_principal.png, aplicación local observada el 31/07/2026.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operador puede localizar un producto por artículo, UPC o descripción. Una vez encontrado, la aplicación carga la información disponible para su revisión y, cuando corresponde, permite ajustes antes de imprimir.</a:t>
            </a:r>
          </a:p>
          <a:p>
            <a:endParaRPr/>
          </a:p>
          <a:p>
            <a:r>
              <a:t>[Sources]</a:t>
            </a:r>
          </a:p>
          <a:p>
            <a:r>
              <a:t>- Captura: 03_articulo_cargado.png, búsqueda local realizada el 31/07/2026.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Antes de imprimir, la vista previa muestra la composición completa: producto, precio, vigencia, identificadores y código de barras. Esto permite confirmar visualmente el resultado.</a:t>
            </a:r>
          </a:p>
          <a:p>
            <a:endParaRPr/>
          </a:p>
          <a:p>
            <a:r>
              <a:t>[Sources]</a:t>
            </a:r>
          </a:p>
          <a:p>
            <a:r>
              <a:t>- Captura: 04_vista_previa.png, vista previa local generada el 31/07/2026.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 abrir la aplicación, los precios nuevos detectados se presentan en una lista. El operador puede seleccionar todos, limpiar la selección o enviar únicamente los artículos elegidos a impresión.</a:t>
            </a:r>
          </a:p>
          <a:p>
            <a:endParaRPr/>
          </a:p>
          <a:p>
            <a:r>
              <a:t>[Sources]</a:t>
            </a:r>
          </a:p>
          <a:p>
            <a:r>
              <a:t>- Captura: 01_precios_nuevos.png, detección automática observada el 31/07/2026.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módulo de precios especiales vigentes reúne precio regular, precio especial, disponibilidad y periodo promocional. La selección múltiple facilita preparar las etiquetas necesarias.</a:t>
            </a:r>
          </a:p>
          <a:p>
            <a:endParaRPr/>
          </a:p>
          <a:p>
            <a:r>
              <a:t>[Sources]</a:t>
            </a:r>
          </a:p>
          <a:p>
            <a:r>
              <a:t>- Captura: 05_precios_especiales.png, aplicación local observada el 31/07/2026.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Cuando existe un precio especial, la vista previa promocional integra el nuevo precio, el ahorro, el precio anterior y las condiciones de vigencia en un formato de alta visibilidad.</a:t>
            </a:r>
          </a:p>
          <a:p>
            <a:endParaRPr/>
          </a:p>
          <a:p>
            <a:r>
              <a:t>[Sources]</a:t>
            </a:r>
          </a:p>
          <a:p>
            <a:r>
              <a:t>- Captura: 07_vista_previa_promocion.png, vista previa local generada el 31/07/2026.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 resumen, el Etiquetador 80 milímetros ofrece un recorrido claro: buscar, revisar, seleccionar e imprimir. Una herramienta centralizada para preparar etiquetas en la operación diaria.</a:t>
            </a:r>
          </a:p>
          <a:p>
            <a:endParaRPr/>
          </a:p>
          <a:p>
            <a:r>
              <a:t>[Sources]</a:t>
            </a:r>
          </a:p>
          <a:p>
            <a:r>
              <a:t>- Logo: LOGO CIRCLE K.png, recurso local proporcionado en el proyecto.</a:t>
            </a:r>
          </a:p>
          <a:p>
            <a:r>
              <a:t>- Síntesis funcional basada en el recorrido local observado el 31/07/2026.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DC26CA3-FED2-7B57-968E-A35655AB947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438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Privado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6E5A084-83F9-AB90-CF65-67E6F92B118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438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Privado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5093FC5-4D53-46B4-3D38-E453BD723A8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watermark"/>
              </p:ext>
            </p:extLst>
          </p:nvPr>
        </p:nvSpPr>
        <p:spPr>
          <a:xfrm rot="-1800000">
            <a:off x="5889625" y="3352800"/>
            <a:ext cx="438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Privado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wav"/><Relationship Id="rId1" Type="http://schemas.microsoft.com/office/2007/relationships/media" Target="../media/media8.wav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8E91A95A-BC6A-401E-89CC-6C63D1BC3E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24472" y="571500"/>
            <a:ext cx="2389632" cy="609600"/>
          </a:xfrm>
          <a:prstGeom prst="rect">
            <a:avLst/>
          </a:prstGeom>
        </p:spPr>
      </p:pic>
      <p:sp>
        <p:nvSpPr>
          <p:cNvPr id="3" name="cover-title">
            <a:extLst>
              <a:ext uri="{FF2B5EF4-FFF2-40B4-BE49-F238E27FC236}">
                <a16:creationId xmlns:a16="http://schemas.microsoft.com/office/drawing/2014/main" id="{9199C352-66DD-43E4-A92D-66332F0D4BED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4381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46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Etiquetador</a:t>
            </a:r>
          </a:p>
          <a:p>
            <a:pPr algn="l">
              <a:defRPr sz="46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80 mm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2B9CCBD-F9F7-4C14-AF30-02BDFA0C0500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4095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Recorrido funcional para operación en tienda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D41DE0A-EB3C-4D74-8407-27FB5AF733DE}"/>
              </a:ext>
            </a:extLst>
          </p:cNvPr>
          <p:cNvSpPr>
            <a:spLocks noGrp="1"/>
          </p:cNvSpPr>
          <p:nvPr/>
        </p:nvSpPr>
        <p:spPr>
          <a:xfrm>
            <a:off x="723900" y="4305300"/>
            <a:ext cx="1181100" cy="5715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52C8B76-E7EA-4E86-8899-53E594F1C772}"/>
              </a:ext>
            </a:extLst>
          </p:cNvPr>
          <p:cNvSpPr>
            <a:spLocks noGrp="1"/>
          </p:cNvSpPr>
          <p:nvPr/>
        </p:nvSpPr>
        <p:spPr>
          <a:xfrm>
            <a:off x="723900" y="45529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Consulta. Revisa. Imprime.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1AAFDA8-1429-4B19-A764-5399B83AD331}"/>
              </a:ext>
            </a:extLst>
          </p:cNvPr>
          <p:cNvSpPr>
            <a:spLocks noGrp="1"/>
          </p:cNvSpPr>
          <p:nvPr/>
        </p:nvSpPr>
        <p:spPr>
          <a:xfrm>
            <a:off x="5543550" y="704850"/>
            <a:ext cx="5724525" cy="4962525"/>
          </a:xfrm>
          <a:prstGeom prst="roundRect">
            <a:avLst>
              <a:gd name="adj" fmla="val 3455"/>
            </a:avLst>
          </a:prstGeom>
          <a:solidFill>
            <a:srgbClr val="FFFFFF"/>
          </a:solidFill>
          <a:ln w="9525">
            <a:solidFill>
              <a:srgbClr val="D8DB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619750" y="876966"/>
            <a:ext cx="5572125" cy="4618294"/>
          </a:xfrm>
          <a:prstGeom prst="roundRect">
            <a:avLst>
              <a:gd name="adj" fmla="val 2376"/>
            </a:avLst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B2673B22-3C5A-448C-B186-6A97EEAA7959}"/>
              </a:ext>
            </a:extLst>
          </p:cNvPr>
          <p:cNvSpPr>
            <a:spLocks noGrp="1"/>
          </p:cNvSpPr>
          <p:nvPr/>
        </p:nvSpPr>
        <p:spPr>
          <a:xfrm>
            <a:off x="723900" y="61150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CÍRCULO K MÉXICO</a:t>
            </a:r>
          </a:p>
        </p:txBody>
      </p:sp>
      <p:pic>
        <p:nvPicPr>
          <p:cNvPr id="2" name="slide-01">
            <a:hlinkClick r:id="" action="ppaction://media"/>
            <a:extLst>
              <a:ext uri="{FF2B5EF4-FFF2-40B4-BE49-F238E27FC236}">
                <a16:creationId xmlns:a16="http://schemas.microsoft.com/office/drawing/2014/main" id="{EC7DF12D-CCF1-FFBC-58BA-A405BDC211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166600" y="68326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219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2500">
        <p:fade/>
      </p:transition>
    </mc:Choice>
    <mc:Fallback>
      <p:transition spd="slow" advClick="0" advTm="12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2-title">
            <a:extLst>
              <a:ext uri="{FF2B5EF4-FFF2-40B4-BE49-F238E27FC236}">
                <a16:creationId xmlns:a16="http://schemas.microsoft.com/office/drawing/2014/main" id="{EADF2225-AAA7-49F7-B487-8A997C36A957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38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Una sola pantalla concentra el flujo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10B2019-1FCE-42FB-8A00-103DB9AB48D3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723900" cy="47625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F672865-98E1-4B17-B093-1DBA281DD780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46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667875" y="344115"/>
            <a:ext cx="1857375" cy="473820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138085BB-397F-44E6-B66D-F6F6E201867F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6534150" cy="5438775"/>
          </a:xfrm>
          <a:prstGeom prst="roundRect">
            <a:avLst>
              <a:gd name="adj" fmla="val 3152"/>
            </a:avLst>
          </a:prstGeom>
          <a:solidFill>
            <a:srgbClr val="FFFFFF"/>
          </a:solidFill>
          <a:ln w="9525">
            <a:solidFill>
              <a:srgbClr val="D8DB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21" name="Imagen 20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68532" y="1314450"/>
            <a:ext cx="6378187" cy="5286375"/>
          </a:xfrm>
          <a:prstGeom prst="roundRect">
            <a:avLst>
              <a:gd name="adj" fmla="val 2162"/>
            </a:avLst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BF503338-0AC8-4AD1-A4EC-139323908970}"/>
              </a:ext>
            </a:extLst>
          </p:cNvPr>
          <p:cNvSpPr>
            <a:spLocks noGrp="1"/>
          </p:cNvSpPr>
          <p:nvPr/>
        </p:nvSpPr>
        <p:spPr>
          <a:xfrm>
            <a:off x="7620000" y="1695450"/>
            <a:ext cx="590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52BF5CA-B266-428F-BDB2-A58896D05D4C}"/>
              </a:ext>
            </a:extLst>
          </p:cNvPr>
          <p:cNvSpPr>
            <a:spLocks noGrp="1"/>
          </p:cNvSpPr>
          <p:nvPr/>
        </p:nvSpPr>
        <p:spPr>
          <a:xfrm>
            <a:off x="8382000" y="167640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Búsqueda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E6A70A5-17EB-4114-B479-D6B16787B2DF}"/>
              </a:ext>
            </a:extLst>
          </p:cNvPr>
          <p:cNvSpPr>
            <a:spLocks noGrp="1"/>
          </p:cNvSpPr>
          <p:nvPr/>
        </p:nvSpPr>
        <p:spPr>
          <a:xfrm>
            <a:off x="8382000" y="205740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Artículo, UPC o descripción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00AB526-DA1F-4701-9EE3-233340E0A1B2}"/>
              </a:ext>
            </a:extLst>
          </p:cNvPr>
          <p:cNvSpPr>
            <a:spLocks noGrp="1"/>
          </p:cNvSpPr>
          <p:nvPr/>
        </p:nvSpPr>
        <p:spPr>
          <a:xfrm>
            <a:off x="7620000" y="3086100"/>
            <a:ext cx="590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E82FE0B-C1B2-4346-B9C9-239811AF0879}"/>
              </a:ext>
            </a:extLst>
          </p:cNvPr>
          <p:cNvSpPr>
            <a:spLocks noGrp="1"/>
          </p:cNvSpPr>
          <p:nvPr/>
        </p:nvSpPr>
        <p:spPr>
          <a:xfrm>
            <a:off x="8382000" y="30670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Revisión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65318D9-5FF3-4384-A38F-7C8C43B5A171}"/>
              </a:ext>
            </a:extLst>
          </p:cNvPr>
          <p:cNvSpPr>
            <a:spLocks noGrp="1"/>
          </p:cNvSpPr>
          <p:nvPr/>
        </p:nvSpPr>
        <p:spPr>
          <a:xfrm>
            <a:off x="8382000" y="344805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Datos editables antes de imprimir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9845756-6F35-4D43-AE1E-1DB3FB75293B}"/>
              </a:ext>
            </a:extLst>
          </p:cNvPr>
          <p:cNvSpPr>
            <a:spLocks noGrp="1"/>
          </p:cNvSpPr>
          <p:nvPr/>
        </p:nvSpPr>
        <p:spPr>
          <a:xfrm>
            <a:off x="7620000" y="4476750"/>
            <a:ext cx="590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994827D-D58D-4772-8198-527FB0FFBA13}"/>
              </a:ext>
            </a:extLst>
          </p:cNvPr>
          <p:cNvSpPr>
            <a:spLocks noGrp="1"/>
          </p:cNvSpPr>
          <p:nvPr/>
        </p:nvSpPr>
        <p:spPr>
          <a:xfrm>
            <a:off x="8382000" y="445770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Salida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0899B5C-536D-456C-9D2A-74EA1E7DA09A}"/>
              </a:ext>
            </a:extLst>
          </p:cNvPr>
          <p:cNvSpPr>
            <a:spLocks noGrp="1"/>
          </p:cNvSpPr>
          <p:nvPr/>
        </p:nvSpPr>
        <p:spPr>
          <a:xfrm>
            <a:off x="8382000" y="483870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Impresora, formato y número de copias</a:t>
            </a:r>
          </a:p>
        </p:txBody>
      </p:sp>
      <p:pic>
        <p:nvPicPr>
          <p:cNvPr id="4" name="slide-02">
            <a:hlinkClick r:id="" action="ppaction://media"/>
            <a:extLst>
              <a:ext uri="{FF2B5EF4-FFF2-40B4-BE49-F238E27FC236}">
                <a16:creationId xmlns:a16="http://schemas.microsoft.com/office/drawing/2014/main" id="{8DF4EE63-5995-5EA5-399C-6F9C296FC7C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166600" y="68326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528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5800">
        <p:fade/>
      </p:transition>
    </mc:Choice>
    <mc:Fallback>
      <p:transition spd="slow" advClick="0" advTm="158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3-title">
            <a:extLst>
              <a:ext uri="{FF2B5EF4-FFF2-40B4-BE49-F238E27FC236}">
                <a16:creationId xmlns:a16="http://schemas.microsoft.com/office/drawing/2014/main" id="{567574F2-8281-432B-9771-93583CF80CBA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38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La información del artículo llega lista para revisar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99BA620-12D5-460C-A8D2-D904FBEC9582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723900" cy="47625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A5FA3F6-3B1F-4C7B-9270-54D4CA8DAD11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46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667875" y="344115"/>
            <a:ext cx="1857375" cy="473820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1963371-BBA5-4D25-8B84-BCF62A99EF12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6819900" cy="5467350"/>
          </a:xfrm>
          <a:prstGeom prst="roundRect">
            <a:avLst>
              <a:gd name="adj" fmla="val 3136"/>
            </a:avLst>
          </a:prstGeom>
          <a:solidFill>
            <a:srgbClr val="FFFFFF"/>
          </a:solidFill>
          <a:ln w="9525">
            <a:solidFill>
              <a:srgbClr val="D8DB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94168" y="1314450"/>
            <a:ext cx="6412664" cy="5314950"/>
          </a:xfrm>
          <a:prstGeom prst="roundRect">
            <a:avLst>
              <a:gd name="adj" fmla="val 2151"/>
            </a:avLst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36627E05-79F8-439F-9CB4-8CEF1E03ED6D}"/>
              </a:ext>
            </a:extLst>
          </p:cNvPr>
          <p:cNvSpPr>
            <a:spLocks noGrp="1"/>
          </p:cNvSpPr>
          <p:nvPr/>
        </p:nvSpPr>
        <p:spPr>
          <a:xfrm>
            <a:off x="7858125" y="1638300"/>
            <a:ext cx="323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Una búsqueda puede iniciar por: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4C639F7-CCD9-4C4D-8CA5-6349C357566F}"/>
              </a:ext>
            </a:extLst>
          </p:cNvPr>
          <p:cNvSpPr>
            <a:spLocks noGrp="1"/>
          </p:cNvSpPr>
          <p:nvPr/>
        </p:nvSpPr>
        <p:spPr>
          <a:xfrm>
            <a:off x="7858125" y="2238375"/>
            <a:ext cx="3048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Artículo</a:t>
            </a:r>
          </a:p>
          <a:p>
            <a:pPr algn="l">
              <a:defRPr sz="26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UPC</a:t>
            </a:r>
          </a:p>
          <a:p>
            <a:pPr algn="l">
              <a:defRPr sz="26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Descripción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D95DF3A-5C36-4400-8A19-93D9E9E58C07}"/>
              </a:ext>
            </a:extLst>
          </p:cNvPr>
          <p:cNvSpPr>
            <a:spLocks noGrp="1"/>
          </p:cNvSpPr>
          <p:nvPr/>
        </p:nvSpPr>
        <p:spPr>
          <a:xfrm>
            <a:off x="7858125" y="4267200"/>
            <a:ext cx="3000375" cy="19050"/>
          </a:xfrm>
          <a:prstGeom prst="rect">
            <a:avLst/>
          </a:prstGeom>
          <a:solidFill>
            <a:srgbClr val="171717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5225855-912C-4129-8135-EE4BC9D9F715}"/>
              </a:ext>
            </a:extLst>
          </p:cNvPr>
          <p:cNvSpPr>
            <a:spLocks noGrp="1"/>
          </p:cNvSpPr>
          <p:nvPr/>
        </p:nvSpPr>
        <p:spPr>
          <a:xfrm>
            <a:off x="7858125" y="4552950"/>
            <a:ext cx="3238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Descripción, precio, código interno y UPC quedan visibles para confirmación.</a:t>
            </a:r>
          </a:p>
        </p:txBody>
      </p:sp>
      <p:pic>
        <p:nvPicPr>
          <p:cNvPr id="4" name="slide-03">
            <a:hlinkClick r:id="" action="ppaction://media"/>
            <a:extLst>
              <a:ext uri="{FF2B5EF4-FFF2-40B4-BE49-F238E27FC236}">
                <a16:creationId xmlns:a16="http://schemas.microsoft.com/office/drawing/2014/main" id="{AFCB6F90-9740-7281-C610-F57A5106DF1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166600" y="68326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9388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4700">
        <p:fade/>
      </p:transition>
    </mc:Choice>
    <mc:Fallback>
      <p:transition spd="slow" advClick="0" advTm="147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4-title">
            <a:extLst>
              <a:ext uri="{FF2B5EF4-FFF2-40B4-BE49-F238E27FC236}">
                <a16:creationId xmlns:a16="http://schemas.microsoft.com/office/drawing/2014/main" id="{2262274E-0488-41E5-A413-AB66402E5711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38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La vista previa confirma la etiqueta antes de imprimir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D9EC700-E3AA-44FE-8D19-A830B7F18C6F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723900" cy="47625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2A8FFA2-018D-4F0D-90F0-9A320BE8B61C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46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667875" y="344115"/>
            <a:ext cx="1857375" cy="473820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70DAED9D-1A17-4677-9EE8-EA391B4411F6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7105650" cy="4724400"/>
          </a:xfrm>
          <a:prstGeom prst="roundRect">
            <a:avLst>
              <a:gd name="adj" fmla="val 3629"/>
            </a:avLst>
          </a:prstGeom>
          <a:solidFill>
            <a:srgbClr val="FFFFFF"/>
          </a:solidFill>
          <a:ln w="9525">
            <a:solidFill>
              <a:srgbClr val="D8DB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67144" y="1428750"/>
            <a:ext cx="6952463" cy="4572000"/>
          </a:xfrm>
          <a:prstGeom prst="roundRect">
            <a:avLst>
              <a:gd name="adj" fmla="val 2500"/>
            </a:avLst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38F4AF8E-000A-4F1D-B05E-6A0443AA907F}"/>
              </a:ext>
            </a:extLst>
          </p:cNvPr>
          <p:cNvSpPr>
            <a:spLocks noGrp="1"/>
          </p:cNvSpPr>
          <p:nvPr/>
        </p:nvSpPr>
        <p:spPr>
          <a:xfrm>
            <a:off x="8191500" y="16954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El operador valida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DCA322B-7119-4694-8A98-058649638A7C}"/>
              </a:ext>
            </a:extLst>
          </p:cNvPr>
          <p:cNvSpPr>
            <a:spLocks noGrp="1"/>
          </p:cNvSpPr>
          <p:nvPr/>
        </p:nvSpPr>
        <p:spPr>
          <a:xfrm>
            <a:off x="8191500" y="2305050"/>
            <a:ext cx="3000375" cy="2333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Producto</a:t>
            </a:r>
          </a:p>
          <a:p>
            <a:pPr algn="l">
              <a:defRPr sz="20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Precio</a:t>
            </a:r>
          </a:p>
          <a:p>
            <a:pPr algn="l">
              <a:defRPr sz="20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Vigencia</a:t>
            </a:r>
          </a:p>
          <a:p>
            <a:pPr algn="l">
              <a:defRPr sz="20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Artículo y UPC</a:t>
            </a:r>
          </a:p>
          <a:p>
            <a:pPr algn="l">
              <a:defRPr sz="20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Código de barras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0D6DB18-E722-4AC7-AD8C-5B4AB3743946}"/>
              </a:ext>
            </a:extLst>
          </p:cNvPr>
          <p:cNvSpPr>
            <a:spLocks noGrp="1"/>
          </p:cNvSpPr>
          <p:nvPr/>
        </p:nvSpPr>
        <p:spPr>
          <a:xfrm>
            <a:off x="8191500" y="5095875"/>
            <a:ext cx="2857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La impresión solo se envía cuando el contenido ya fue revisado.</a:t>
            </a:r>
          </a:p>
        </p:txBody>
      </p:sp>
      <p:pic>
        <p:nvPicPr>
          <p:cNvPr id="4" name="slide-04">
            <a:hlinkClick r:id="" action="ppaction://media"/>
            <a:extLst>
              <a:ext uri="{FF2B5EF4-FFF2-40B4-BE49-F238E27FC236}">
                <a16:creationId xmlns:a16="http://schemas.microsoft.com/office/drawing/2014/main" id="{B4D65264-2473-7C51-9A99-403C870C526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166600" y="68326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020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6500">
        <p:fade/>
      </p:transition>
    </mc:Choice>
    <mc:Fallback>
      <p:transition spd="slow" advClick="0" advTm="16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5-title">
            <a:extLst>
              <a:ext uri="{FF2B5EF4-FFF2-40B4-BE49-F238E27FC236}">
                <a16:creationId xmlns:a16="http://schemas.microsoft.com/office/drawing/2014/main" id="{154652B1-6005-403F-B18A-A56FB488D681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38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Los precios nuevos aparecen automáticamente al abrir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A1A7F73-45B1-4898-A826-E89AB54DE0FB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723900" cy="47625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67D09D1-BDF5-42E3-82E6-5072E537BA6B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46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667875" y="344115"/>
            <a:ext cx="1857375" cy="473820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CC43C0D-8E14-49DA-BFDB-0F4CD879C6A2}"/>
              </a:ext>
            </a:extLst>
          </p:cNvPr>
          <p:cNvSpPr>
            <a:spLocks noGrp="1"/>
          </p:cNvSpPr>
          <p:nvPr/>
        </p:nvSpPr>
        <p:spPr>
          <a:xfrm>
            <a:off x="1257300" y="1162050"/>
            <a:ext cx="9677400" cy="54864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8DB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345764" y="1238250"/>
            <a:ext cx="9500472" cy="5334000"/>
          </a:xfrm>
          <a:prstGeom prst="roundRect">
            <a:avLst>
              <a:gd name="adj" fmla="val 2143"/>
            </a:avLst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A369E85-0181-4DC9-BED9-D237DD99F211}"/>
              </a:ext>
            </a:extLst>
          </p:cNvPr>
          <p:cNvSpPr>
            <a:spLocks noGrp="1"/>
          </p:cNvSpPr>
          <p:nvPr/>
        </p:nvSpPr>
        <p:spPr>
          <a:xfrm>
            <a:off x="1504950" y="5219700"/>
            <a:ext cx="9182100" cy="781050"/>
          </a:xfrm>
          <a:prstGeom prst="roundRect">
            <a:avLst>
              <a:gd name="adj" fmla="val 14634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8DBDE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6FF2C2B-6378-4F58-A2FB-19AD5FE7DBBF}"/>
              </a:ext>
            </a:extLst>
          </p:cNvPr>
          <p:cNvSpPr>
            <a:spLocks noGrp="1"/>
          </p:cNvSpPr>
          <p:nvPr/>
        </p:nvSpPr>
        <p:spPr>
          <a:xfrm>
            <a:off x="1714500" y="542925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Seleccionar  ·  revisar vigencia  ·  imprimir en lote</a:t>
            </a:r>
          </a:p>
        </p:txBody>
      </p:sp>
      <p:pic>
        <p:nvPicPr>
          <p:cNvPr id="4" name="slide-05">
            <a:hlinkClick r:id="" action="ppaction://media"/>
            <a:extLst>
              <a:ext uri="{FF2B5EF4-FFF2-40B4-BE49-F238E27FC236}">
                <a16:creationId xmlns:a16="http://schemas.microsoft.com/office/drawing/2014/main" id="{92E9F134-4680-BB35-9E6B-9CDD7B385E8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166600" y="68326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676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5300">
        <p:fade/>
      </p:transition>
    </mc:Choice>
    <mc:Fallback>
      <p:transition spd="slow" advClick="0" advTm="153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6-title">
            <a:extLst>
              <a:ext uri="{FF2B5EF4-FFF2-40B4-BE49-F238E27FC236}">
                <a16:creationId xmlns:a16="http://schemas.microsoft.com/office/drawing/2014/main" id="{5679EEF2-CE4F-4132-A39A-331FFF1B78F3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38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Promociones vigentes listas para imprimir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2284455-B41B-48A5-A1C0-37EF7ACE1386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723900" cy="47625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AF3A54C-E3ED-4A00-B066-CB195C157884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46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667875" y="344115"/>
            <a:ext cx="1857375" cy="473820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005DF9A-20D4-46B5-BB89-83EA83DC7D0A}"/>
              </a:ext>
            </a:extLst>
          </p:cNvPr>
          <p:cNvSpPr>
            <a:spLocks noGrp="1"/>
          </p:cNvSpPr>
          <p:nvPr/>
        </p:nvSpPr>
        <p:spPr>
          <a:xfrm>
            <a:off x="1019175" y="1162050"/>
            <a:ext cx="10153650" cy="55245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D8DB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95375" y="1239377"/>
            <a:ext cx="10001250" cy="5369847"/>
          </a:xfrm>
          <a:prstGeom prst="roundRect">
            <a:avLst>
              <a:gd name="adj" fmla="val 2128"/>
            </a:avLst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B3EC592-11D5-4B3C-BE16-8DF5B9598F26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9334500" cy="838200"/>
          </a:xfrm>
          <a:prstGeom prst="roundRect">
            <a:avLst>
              <a:gd name="adj" fmla="val 13636"/>
            </a:avLst>
          </a:prstGeom>
          <a:solidFill>
            <a:srgbClr val="171717">
              <a:alpha val="90980"/>
            </a:srgbClr>
          </a:solidFill>
          <a:ln w="0">
            <a:noFill/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8A007E5-F137-481C-B9C2-197D6465F3C3}"/>
              </a:ext>
            </a:extLst>
          </p:cNvPr>
          <p:cNvSpPr>
            <a:spLocks noGrp="1"/>
          </p:cNvSpPr>
          <p:nvPr/>
        </p:nvSpPr>
        <p:spPr>
          <a:xfrm>
            <a:off x="1714500" y="5334000"/>
            <a:ext cx="876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Precio regular, precio especial, existencia y vigencia en una sola revisión.</a:t>
            </a:r>
          </a:p>
        </p:txBody>
      </p:sp>
      <p:pic>
        <p:nvPicPr>
          <p:cNvPr id="4" name="slide-06">
            <a:hlinkClick r:id="" action="ppaction://media"/>
            <a:extLst>
              <a:ext uri="{FF2B5EF4-FFF2-40B4-BE49-F238E27FC236}">
                <a16:creationId xmlns:a16="http://schemas.microsoft.com/office/drawing/2014/main" id="{5CFEFC0D-475D-3631-8631-5DF54769CC9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166600" y="68326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7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5600">
        <p:fade/>
      </p:transition>
    </mc:Choice>
    <mc:Fallback>
      <p:transition spd="slow" advClick="0" advTm="156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7-title">
            <a:extLst>
              <a:ext uri="{FF2B5EF4-FFF2-40B4-BE49-F238E27FC236}">
                <a16:creationId xmlns:a16="http://schemas.microsoft.com/office/drawing/2014/main" id="{D6FA17AF-6FC0-495F-ADAC-18A65F9817CD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38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La promoción comunica el ahorro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900776C-1D49-4BA1-9FBB-91CAF2284FE9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723900" cy="47625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3AB35C3-14E6-4A0B-AC52-CE48B7E6F895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46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667875" y="344115"/>
            <a:ext cx="1857375" cy="47382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0666A05-8798-4E61-9BE9-FBE600FB1963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Precio nuevo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0F15CC6-2957-42AD-A4AF-9CF83A527F1A}"/>
              </a:ext>
            </a:extLst>
          </p:cNvPr>
          <p:cNvSpPr>
            <a:spLocks noGrp="1"/>
          </p:cNvSpPr>
          <p:nvPr/>
        </p:nvSpPr>
        <p:spPr>
          <a:xfrm>
            <a:off x="762000" y="2419350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Ahorro visible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94D1F11-3698-4076-8A6E-B4403E892782}"/>
              </a:ext>
            </a:extLst>
          </p:cNvPr>
          <p:cNvSpPr>
            <a:spLocks noGrp="1"/>
          </p:cNvSpPr>
          <p:nvPr/>
        </p:nvSpPr>
        <p:spPr>
          <a:xfrm>
            <a:off x="762000" y="3105150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Precio anterior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296799C-C091-4332-86D0-1798F9E49624}"/>
              </a:ext>
            </a:extLst>
          </p:cNvPr>
          <p:cNvSpPr>
            <a:spLocks noGrp="1"/>
          </p:cNvSpPr>
          <p:nvPr/>
        </p:nvSpPr>
        <p:spPr>
          <a:xfrm>
            <a:off x="762000" y="3790950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Vigencia y condiciones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0A305EC-7C34-4DDD-AB40-3C4A76755630}"/>
              </a:ext>
            </a:extLst>
          </p:cNvPr>
          <p:cNvSpPr>
            <a:spLocks noGrp="1"/>
          </p:cNvSpPr>
          <p:nvPr/>
        </p:nvSpPr>
        <p:spPr>
          <a:xfrm>
            <a:off x="762000" y="4552950"/>
            <a:ext cx="3429000" cy="19050"/>
          </a:xfrm>
          <a:prstGeom prst="rect">
            <a:avLst/>
          </a:prstGeom>
          <a:solidFill>
            <a:srgbClr val="171717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358328D-FB63-461E-A7F9-E4FF0AE23F77}"/>
              </a:ext>
            </a:extLst>
          </p:cNvPr>
          <p:cNvSpPr>
            <a:spLocks noGrp="1"/>
          </p:cNvSpPr>
          <p:nvPr/>
        </p:nvSpPr>
        <p:spPr>
          <a:xfrm>
            <a:off x="762000" y="4857750"/>
            <a:ext cx="3714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El formato destaca la promoción sin perder la información operativa.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B270F297-EDAA-4C0B-8CA7-E467280BCAE6}"/>
              </a:ext>
            </a:extLst>
          </p:cNvPr>
          <p:cNvSpPr>
            <a:spLocks noGrp="1"/>
          </p:cNvSpPr>
          <p:nvPr/>
        </p:nvSpPr>
        <p:spPr>
          <a:xfrm>
            <a:off x="5019675" y="1162050"/>
            <a:ext cx="6343650" cy="4772025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9525">
            <a:solidFill>
              <a:srgbClr val="D8DB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25" name="Imagen 2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1246533"/>
            <a:ext cx="6191250" cy="4603060"/>
          </a:xfrm>
          <a:prstGeom prst="roundRect">
            <a:avLst>
              <a:gd name="adj" fmla="val 2474"/>
            </a:avLst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76EF5CF2-50C2-44D6-A58E-C2F050959F40}"/>
              </a:ext>
            </a:extLst>
          </p:cNvPr>
          <p:cNvSpPr>
            <a:spLocks noGrp="1"/>
          </p:cNvSpPr>
          <p:nvPr/>
        </p:nvSpPr>
        <p:spPr>
          <a:xfrm>
            <a:off x="5095875" y="61531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Ejemplo de demostración</a:t>
            </a:r>
          </a:p>
        </p:txBody>
      </p:sp>
      <p:pic>
        <p:nvPicPr>
          <p:cNvPr id="4" name="slide-07">
            <a:hlinkClick r:id="" action="ppaction://media"/>
            <a:extLst>
              <a:ext uri="{FF2B5EF4-FFF2-40B4-BE49-F238E27FC236}">
                <a16:creationId xmlns:a16="http://schemas.microsoft.com/office/drawing/2014/main" id="{8AC92D05-A6F4-3EBE-A0AA-4EB24E916A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166600" y="68326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8393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3800">
        <p:fade/>
      </p:transition>
    </mc:Choice>
    <mc:Fallback>
      <p:transition spd="slow" advClick="0" advTm="138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D277897A-9FCB-46FE-95BB-946ABF392F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59333" y="609600"/>
            <a:ext cx="2538984" cy="6477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AFB659DE-B369-4417-9B91-38A73DB9B336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742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9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Un flujo claro de principio a fin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CBC62C7-C536-45F5-9BB2-30FA8941A5B8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BUSCA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586AB76-95A1-4FB5-ACC6-5EFFD9DCCE0A}"/>
              </a:ext>
            </a:extLst>
          </p:cNvPr>
          <p:cNvSpPr>
            <a:spLocks noGrp="1"/>
          </p:cNvSpPr>
          <p:nvPr/>
        </p:nvSpPr>
        <p:spPr>
          <a:xfrm>
            <a:off x="3190875" y="31432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REVISA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2C9B112-6F52-414E-8CDF-8F5A7E5FB131}"/>
              </a:ext>
            </a:extLst>
          </p:cNvPr>
          <p:cNvSpPr>
            <a:spLocks noGrp="1"/>
          </p:cNvSpPr>
          <p:nvPr/>
        </p:nvSpPr>
        <p:spPr>
          <a:xfrm>
            <a:off x="5762625" y="314325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SELECCIONA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77368A0-8BDC-4001-9CFF-901D3A2144A4}"/>
              </a:ext>
            </a:extLst>
          </p:cNvPr>
          <p:cNvSpPr>
            <a:spLocks noGrp="1"/>
          </p:cNvSpPr>
          <p:nvPr/>
        </p:nvSpPr>
        <p:spPr>
          <a:xfrm>
            <a:off x="9048750" y="3143250"/>
            <a:ext cx="228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IMPRIME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B43E0EE-19CF-416A-8C1C-D5947103A118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10572750" cy="28575"/>
          </a:xfrm>
          <a:prstGeom prst="rect">
            <a:avLst/>
          </a:prstGeom>
          <a:solidFill>
            <a:srgbClr val="171717"/>
          </a:solidFill>
          <a:ln w="0">
            <a:noFill/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BB0A29E-78FE-45AE-9E2C-C17A791A467B}"/>
              </a:ext>
            </a:extLst>
          </p:cNvPr>
          <p:cNvSpPr>
            <a:spLocks noGrp="1"/>
          </p:cNvSpPr>
          <p:nvPr/>
        </p:nvSpPr>
        <p:spPr>
          <a:xfrm>
            <a:off x="742950" y="4533900"/>
            <a:ext cx="93345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Etiquetador 80 mm centraliza la consulta, la validación visual y la salida de etiquetas para la operación diaria.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A4E6A93-3FE6-4CFC-AD41-650F2AE41FA2}"/>
              </a:ext>
            </a:extLst>
          </p:cNvPr>
          <p:cNvSpPr>
            <a:spLocks noGrp="1"/>
          </p:cNvSpPr>
          <p:nvPr/>
        </p:nvSpPr>
        <p:spPr>
          <a:xfrm>
            <a:off x="742950" y="61150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CÍRCULO K MÉXICO</a:t>
            </a:r>
          </a:p>
        </p:txBody>
      </p:sp>
      <p:pic>
        <p:nvPicPr>
          <p:cNvPr id="2" name="slide-08">
            <a:hlinkClick r:id="" action="ppaction://media"/>
            <a:extLst>
              <a:ext uri="{FF2B5EF4-FFF2-40B4-BE49-F238E27FC236}">
                <a16:creationId xmlns:a16="http://schemas.microsoft.com/office/drawing/2014/main" id="{33C5EE23-281A-B984-2765-47EB3BE7234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166600" y="68326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651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4000">
        <p:fade/>
      </p:transition>
    </mc:Choice>
    <mc:Fallback>
      <p:transition spd="slow" advClick="0" advTm="1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674</Words>
  <Application>Microsoft Office PowerPoint</Application>
  <DocSecurity>0</DocSecurity>
  <PresentationFormat>Panorámica</PresentationFormat>
  <Paragraphs>95</Paragraphs>
  <Slides>8</Slides>
  <Notes>8</Notes>
  <HiddenSlides>0</HiddenSlides>
  <MMClips>8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Manuel Arteaga Murillo</cp:lastModifiedBy>
  <cp:revision>1</cp:revision>
  <dcterms:created xsi:type="dcterms:W3CDTF">2026-07-31T13:01:43Z</dcterms:created>
  <dcterms:modified xsi:type="dcterms:W3CDTF">2026-07-31T13:03:54Z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51ab147-624d-4db2-84a2-e44fec95d9f2_Enabled">
    <vt:lpwstr>true</vt:lpwstr>
  </property>
  <property fmtid="{D5CDD505-2E9C-101B-9397-08002B2CF9AE}" pid="3" name="MSIP_Label_b51ab147-624d-4db2-84a2-e44fec95d9f2_SetDate">
    <vt:lpwstr>2026-07-31T13:03:54Z</vt:lpwstr>
  </property>
  <property fmtid="{D5CDD505-2E9C-101B-9397-08002B2CF9AE}" pid="4" name="MSIP_Label_b51ab147-624d-4db2-84a2-e44fec95d9f2_Method">
    <vt:lpwstr>Standard</vt:lpwstr>
  </property>
  <property fmtid="{D5CDD505-2E9C-101B-9397-08002B2CF9AE}" pid="5" name="MSIP_Label_b51ab147-624d-4db2-84a2-e44fec95d9f2_Name">
    <vt:lpwstr>Correo Privado</vt:lpwstr>
  </property>
  <property fmtid="{D5CDD505-2E9C-101B-9397-08002B2CF9AE}" pid="6" name="MSIP_Label_b51ab147-624d-4db2-84a2-e44fec95d9f2_SiteId">
    <vt:lpwstr>510a5d80-26f2-428a-90b1-facf2c20745b</vt:lpwstr>
  </property>
  <property fmtid="{D5CDD505-2E9C-101B-9397-08002B2CF9AE}" pid="7" name="MSIP_Label_b51ab147-624d-4db2-84a2-e44fec95d9f2_ActionId">
    <vt:lpwstr>fe4dc8e5-9ae3-47b5-be12-d8776f1eee2f</vt:lpwstr>
  </property>
  <property fmtid="{D5CDD505-2E9C-101B-9397-08002B2CF9AE}" pid="8" name="MSIP_Label_b51ab147-624d-4db2-84a2-e44fec95d9f2_ContentBits">
    <vt:lpwstr>7</vt:lpwstr>
  </property>
  <property fmtid="{D5CDD505-2E9C-101B-9397-08002B2CF9AE}" pid="9" name="MSIP_Label_b51ab147-624d-4db2-84a2-e44fec95d9f2_Tag">
    <vt:lpwstr>10, 3, 0, 1</vt:lpwstr>
  </property>
  <property fmtid="{D5CDD505-2E9C-101B-9397-08002B2CF9AE}" pid="10" name="ClassificationContentMarkingFooterLocations">
    <vt:lpwstr>ChatGPT:6</vt:lpwstr>
  </property>
  <property fmtid="{D5CDD505-2E9C-101B-9397-08002B2CF9AE}" pid="11" name="ClassificationContentMarkingFooterText">
    <vt:lpwstr>Privado</vt:lpwstr>
  </property>
  <property fmtid="{D5CDD505-2E9C-101B-9397-08002B2CF9AE}" pid="12" name="ClassificationContentMarkingHeaderLocations">
    <vt:lpwstr>ChatGPT:5</vt:lpwstr>
  </property>
  <property fmtid="{D5CDD505-2E9C-101B-9397-08002B2CF9AE}" pid="13" name="ClassificationContentMarkingHeaderText">
    <vt:lpwstr>Privado</vt:lpwstr>
  </property>
  <property fmtid="{D5CDD505-2E9C-101B-9397-08002B2CF9AE}" pid="14" name="ClassificationWatermarkLocations">
    <vt:lpwstr>ChatGPT:7</vt:lpwstr>
  </property>
  <property fmtid="{D5CDD505-2E9C-101B-9397-08002B2CF9AE}" pid="15" name="ClassificationWatermarkText">
    <vt:lpwstr>Privado</vt:lpwstr>
  </property>
</Properties>
</file>