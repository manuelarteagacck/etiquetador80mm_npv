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Etiquetador 80 milímetros concentra en una sola aplicación la consulta, revisión e impresión de etiquetas para la operación de tienda de Círculo K México.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pantalla principal organiza el trabajo en tres zonas claras: búsqueda, vista previa editable y configuración de impresión. El aliado mantiene control del contenido antes de generar la etiqueta.</a:t>
            </a:r>
          </a:p>
          <a:p>
            <a:endParaRPr/>
          </a:p>
          <a:p>
            <a:r>
              <a:t>[Sources]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aliado puede localizar un producto por artículo, UPC o descripción. Una vez encontrado, la aplicación carga la información disponible para su revisión y, cuando corresponde, permite ajustes antes de imprimir.</a:t>
            </a:r>
          </a:p>
          <a:p>
            <a:endParaRPr/>
          </a:p>
          <a:p>
            <a:r>
              <a:t>[Sources]</a:t>
            </a:r>
          </a:p>
          <a:p>
            <a:r>
              <a:t>- Captura: 03_articulo_cargado.png, búsqueda local realizada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imprimir, la vista previa muestra la composición completa: producto, precio, vigencia, identificadores y código de barras. Esto permite confirmar visualmente el resultado.</a:t>
            </a:r>
          </a:p>
          <a:p>
            <a:endParaRPr/>
          </a:p>
          <a:p>
            <a:r>
              <a:t>[Sources]</a:t>
            </a:r>
          </a:p>
          <a:p>
            <a:r>
              <a:t>- Captura: 04_vista_previa.png,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 abrir la aplicación, los precios nuevos detectados se presentan en una lista. El aliado puede seleccionar todos, limpiar la selección o enviar únicamente los artículos elegidos a impresión.</a:t>
            </a:r>
          </a:p>
          <a:p>
            <a:endParaRPr/>
          </a:p>
          <a:p>
            <a:r>
              <a:t>[Sources]</a:t>
            </a:r>
          </a:p>
          <a:p>
            <a:r>
              <a:t>- Captura: 01_precios_nuevos.png, detección automática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módulo de precios especiales vigentes reúne precio regular, precio especial, disponibilidad y periodo promocional. La selección múltiple facilita preparar las etiquetas necesarias.</a:t>
            </a:r>
          </a:p>
          <a:p>
            <a:endParaRPr/>
          </a:p>
          <a:p>
            <a:r>
              <a:t>[Sources]</a:t>
            </a:r>
          </a:p>
          <a:p>
            <a:r>
              <a:t>- Captura: 05_precios_especiales.png,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Cuando existe un precio especial, la vista previa promocional integra el nuevo precio, el ahorro, el precio anterior y las condiciones de vigencia en un formato de alta visibilidad.</a:t>
            </a:r>
          </a:p>
          <a:p>
            <a:endParaRPr/>
          </a:p>
          <a:p>
            <a:r>
              <a:t>[Sources]</a:t>
            </a:r>
          </a:p>
          <a:p>
            <a:r>
              <a:t>- Captura: 07_vista_previa_promocion.png,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resumen, el Etiquetador 80 milímetros ofrece un recorrido claro: buscar, revisar, seleccionar e imprimir. Una herramienta centralizada para preparar etiquetas en la operación diaria.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Síntesis funcional basada en el recorrido local observado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3BF7036-5C1A-A18C-C620-D714B20143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B8F7E9-49C1-E91C-51ED-EB72CEF6BC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AD91EF-A356-BD4C-7C38-3ED45C934FA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 rot="-1800000">
            <a:off x="5889625" y="33528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96894B3A-6302-48C2-BB85-CB727FDD59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24472" y="571500"/>
            <a:ext cx="2389632" cy="609600"/>
          </a:xfrm>
          <a:prstGeom prst="rect">
            <a:avLst/>
          </a:prstGeom>
        </p:spPr>
      </p:pic>
      <p:sp>
        <p:nvSpPr>
          <p:cNvPr id="3" name="cover-title">
            <a:extLst>
              <a:ext uri="{FF2B5EF4-FFF2-40B4-BE49-F238E27FC236}">
                <a16:creationId xmlns:a16="http://schemas.microsoft.com/office/drawing/2014/main" id="{7360C11B-76BE-4EE3-BA18-D15A0FB9175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Etiquetador</a:t>
            </a:r>
          </a:p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80 mm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1F1466-5371-4551-95F6-915C80D1803D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4095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Recorrido funcional para operación en tienda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7FE175-E932-4AE7-AEDC-CDB747AEE05B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1181100" cy="5715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5F7B9D-6170-42D1-B0FA-DC1077B43481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Consulta. Revisa. Imprime.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7253FB-ACE8-4B80-9205-CB77B60F58A2}"/>
              </a:ext>
            </a:extLst>
          </p:cNvPr>
          <p:cNvSpPr>
            <a:spLocks noGrp="1"/>
          </p:cNvSpPr>
          <p:nvPr/>
        </p:nvSpPr>
        <p:spPr>
          <a:xfrm>
            <a:off x="5543550" y="704850"/>
            <a:ext cx="5724525" cy="4962525"/>
          </a:xfrm>
          <a:prstGeom prst="roundRect">
            <a:avLst>
              <a:gd name="adj" fmla="val 345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619750" y="876966"/>
            <a:ext cx="5572125" cy="4618294"/>
          </a:xfrm>
          <a:prstGeom prst="roundRect">
            <a:avLst>
              <a:gd name="adj" fmla="val 2376"/>
            </a:avLst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08046A6-AC87-490B-80FA-7D48AD48150B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  <p:pic>
        <p:nvPicPr>
          <p:cNvPr id="2" name="narracion_natural_completa">
            <a:hlinkClick r:id="" action="ppaction://media"/>
            <a:extLst>
              <a:ext uri="{FF2B5EF4-FFF2-40B4-BE49-F238E27FC236}">
                <a16:creationId xmlns:a16="http://schemas.microsoft.com/office/drawing/2014/main" id="{998D2E31-C68A-DC18-65C8-B51E03CF9E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56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6280"/>
    </mc:Choice>
    <mc:Fallback>
      <p:transition advClick="0" advTm="162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8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2-title">
            <a:extLst>
              <a:ext uri="{FF2B5EF4-FFF2-40B4-BE49-F238E27FC236}">
                <a16:creationId xmlns:a16="http://schemas.microsoft.com/office/drawing/2014/main" id="{739B3EF9-601F-4C71-9BA4-A8A90E0DED1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Una sola pantalla concentra el flujo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D504AF-8B9B-456A-BEF9-C959332F6B41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D95E6F-8E7B-482A-A5D4-52E02C39D11F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F9D2E61-47C3-443C-B78A-55F9F0B78D85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534150" cy="5438775"/>
          </a:xfrm>
          <a:prstGeom prst="roundRect">
            <a:avLst>
              <a:gd name="adj" fmla="val 3152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8532" y="1314450"/>
            <a:ext cx="6378187" cy="5286375"/>
          </a:xfrm>
          <a:prstGeom prst="roundRect">
            <a:avLst>
              <a:gd name="adj" fmla="val 2162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B19B10F-6795-4391-B40F-51774CFC65B9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532FE6-5E80-44A0-9439-0958EE842504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Búsqueda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2ADB69-BB15-4431-A9A1-14ABC48F99CB}"/>
              </a:ext>
            </a:extLst>
          </p:cNvPr>
          <p:cNvSpPr>
            <a:spLocks noGrp="1"/>
          </p:cNvSpPr>
          <p:nvPr/>
        </p:nvSpPr>
        <p:spPr>
          <a:xfrm>
            <a:off x="8382000" y="20574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Artículo, UPC o descripción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3E177D-4947-4517-AA13-5A231C2EB432}"/>
              </a:ext>
            </a:extLst>
          </p:cNvPr>
          <p:cNvSpPr>
            <a:spLocks noGrp="1"/>
          </p:cNvSpPr>
          <p:nvPr/>
        </p:nvSpPr>
        <p:spPr>
          <a:xfrm>
            <a:off x="7620000" y="30861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D988BA-CC4D-47BE-B8BE-6936C917C35C}"/>
              </a:ext>
            </a:extLst>
          </p:cNvPr>
          <p:cNvSpPr>
            <a:spLocks noGrp="1"/>
          </p:cNvSpPr>
          <p:nvPr/>
        </p:nvSpPr>
        <p:spPr>
          <a:xfrm>
            <a:off x="8382000" y="3067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7807FB0-D6B0-456B-B7C5-E13EBC68E3C4}"/>
              </a:ext>
            </a:extLst>
          </p:cNvPr>
          <p:cNvSpPr>
            <a:spLocks noGrp="1"/>
          </p:cNvSpPr>
          <p:nvPr/>
        </p:nvSpPr>
        <p:spPr>
          <a:xfrm>
            <a:off x="8382000" y="34480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Datos editables antes de imprimir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B7CE49-AE61-4821-97D7-9CFDEEBBB148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B44C90B-32FF-43AB-8CCC-C426FEF16492}"/>
              </a:ext>
            </a:extLst>
          </p:cNvPr>
          <p:cNvSpPr>
            <a:spLocks noGrp="1"/>
          </p:cNvSpPr>
          <p:nvPr/>
        </p:nvSpPr>
        <p:spPr>
          <a:xfrm>
            <a:off x="8382000" y="44577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4F2D35-54BD-47F7-BD75-4A1C23975F64}"/>
              </a:ext>
            </a:extLst>
          </p:cNvPr>
          <p:cNvSpPr>
            <a:spLocks noGrp="1"/>
          </p:cNvSpPr>
          <p:nvPr/>
        </p:nvSpPr>
        <p:spPr>
          <a:xfrm>
            <a:off x="8382000" y="48387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Impresora, formato y número de copias</a:t>
            </a:r>
          </a:p>
        </p:txBody>
      </p:sp>
    </p:spTree>
    <p:extLst>
      <p:ext uri="{BB962C8B-B14F-4D97-AF65-F5344CB8AC3E}">
        <p14:creationId xmlns:p14="http://schemas.microsoft.com/office/powerpoint/2010/main" val="32183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6855"/>
    </mc:Choice>
    <mc:Fallback>
      <p:transition advClick="0" advTm="168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3-title">
            <a:extLst>
              <a:ext uri="{FF2B5EF4-FFF2-40B4-BE49-F238E27FC236}">
                <a16:creationId xmlns:a16="http://schemas.microsoft.com/office/drawing/2014/main" id="{848DA843-18F0-40E3-A94E-7FD584E938F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información del artículo llega lista para revisar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68595B-A45E-4272-B2AC-D6D01810FE7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31AA2A-6395-4F33-81BD-B94BAFAF0F5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41958AD-9A3B-4C1B-89A9-EAEAB74B9C24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819900" cy="546735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4168" y="1314450"/>
            <a:ext cx="6412664" cy="5314950"/>
          </a:xfrm>
          <a:prstGeom prst="roundRect">
            <a:avLst>
              <a:gd name="adj" fmla="val 2151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4921311-FA17-405A-9F08-DF384AA0BA8C}"/>
              </a:ext>
            </a:extLst>
          </p:cNvPr>
          <p:cNvSpPr>
            <a:spLocks noGrp="1"/>
          </p:cNvSpPr>
          <p:nvPr/>
        </p:nvSpPr>
        <p:spPr>
          <a:xfrm>
            <a:off x="7858125" y="163830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Una búsqueda puede iniciar por: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BEFB50-3F34-4B83-B82D-330626718C0E}"/>
              </a:ext>
            </a:extLst>
          </p:cNvPr>
          <p:cNvSpPr>
            <a:spLocks noGrp="1"/>
          </p:cNvSpPr>
          <p:nvPr/>
        </p:nvSpPr>
        <p:spPr>
          <a:xfrm>
            <a:off x="7858125" y="2238375"/>
            <a:ext cx="304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UPC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Descripción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C6B50F-7884-46EF-BD64-18C372FFA12B}"/>
              </a:ext>
            </a:extLst>
          </p:cNvPr>
          <p:cNvSpPr>
            <a:spLocks noGrp="1"/>
          </p:cNvSpPr>
          <p:nvPr/>
        </p:nvSpPr>
        <p:spPr>
          <a:xfrm>
            <a:off x="7858125" y="4267200"/>
            <a:ext cx="3000375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59A798F-B10A-4795-9358-056962CC8185}"/>
              </a:ext>
            </a:extLst>
          </p:cNvPr>
          <p:cNvSpPr>
            <a:spLocks noGrp="1"/>
          </p:cNvSpPr>
          <p:nvPr/>
        </p:nvSpPr>
        <p:spPr>
          <a:xfrm>
            <a:off x="7858125" y="45529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Descripción, precio, código interno y UPC quedan visibles para confirmación.</a:t>
            </a:r>
          </a:p>
        </p:txBody>
      </p:sp>
    </p:spTree>
    <p:extLst>
      <p:ext uri="{BB962C8B-B14F-4D97-AF65-F5344CB8AC3E}">
        <p14:creationId xmlns:p14="http://schemas.microsoft.com/office/powerpoint/2010/main" val="1036594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4468"/>
    </mc:Choice>
    <mc:Fallback>
      <p:transition advClick="0" advTm="1446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4-title">
            <a:extLst>
              <a:ext uri="{FF2B5EF4-FFF2-40B4-BE49-F238E27FC236}">
                <a16:creationId xmlns:a16="http://schemas.microsoft.com/office/drawing/2014/main" id="{36BEB84C-E114-47A9-B9C8-C460E5BCDC7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vista previa confirma la etiqueta antes de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9E86FA-9748-4362-B13C-DCC72BE107C8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5637058-537A-4EAC-83D7-B104D05679C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31295D0-669C-4AFD-9416-830BE22CCBC6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7105650" cy="4724400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7144" y="1428750"/>
            <a:ext cx="6952463" cy="4572000"/>
          </a:xfrm>
          <a:prstGeom prst="roundRect">
            <a:avLst>
              <a:gd name="adj" fmla="val 2500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7CE4362-C858-42B5-95FB-40A1475DC685}"/>
              </a:ext>
            </a:extLst>
          </p:cNvPr>
          <p:cNvSpPr>
            <a:spLocks noGrp="1"/>
          </p:cNvSpPr>
          <p:nvPr/>
        </p:nvSpPr>
        <p:spPr>
          <a:xfrm>
            <a:off x="8191500" y="1695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El aliado valida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0FA7ED-0513-46F4-8D95-5AA0C3AEA2CB}"/>
              </a:ext>
            </a:extLst>
          </p:cNvPr>
          <p:cNvSpPr>
            <a:spLocks noGrp="1"/>
          </p:cNvSpPr>
          <p:nvPr/>
        </p:nvSpPr>
        <p:spPr>
          <a:xfrm>
            <a:off x="8191500" y="2305050"/>
            <a:ext cx="3000375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Producto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 y UPC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Código de barras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312253-EF40-4F8B-9C42-32E47AF955E6}"/>
              </a:ext>
            </a:extLst>
          </p:cNvPr>
          <p:cNvSpPr>
            <a:spLocks noGrp="1"/>
          </p:cNvSpPr>
          <p:nvPr/>
        </p:nvSpPr>
        <p:spPr>
          <a:xfrm>
            <a:off x="8191500" y="5095875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La impresión solo se envía cuando el contenido ya fue revisado.</a:t>
            </a:r>
          </a:p>
        </p:txBody>
      </p:sp>
    </p:spTree>
    <p:extLst>
      <p:ext uri="{BB962C8B-B14F-4D97-AF65-F5344CB8AC3E}">
        <p14:creationId xmlns:p14="http://schemas.microsoft.com/office/powerpoint/2010/main" val="912466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8186"/>
    </mc:Choice>
    <mc:Fallback>
      <p:transition advClick="0" advTm="1818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5-title">
            <a:extLst>
              <a:ext uri="{FF2B5EF4-FFF2-40B4-BE49-F238E27FC236}">
                <a16:creationId xmlns:a16="http://schemas.microsoft.com/office/drawing/2014/main" id="{24953832-DABD-4543-B4C7-FA0D500BA14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Los precios nuevos aparecen automáticamente al abrir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DCBFF0-078A-4094-9B04-449F311DA15A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AF7C14-4AB0-440B-B425-70D6B4744521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1BFE752-C71F-4CAE-995D-6B42ACBE09EE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9677400" cy="5486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5764" y="1238250"/>
            <a:ext cx="9500472" cy="5334000"/>
          </a:xfrm>
          <a:prstGeom prst="roundRect">
            <a:avLst>
              <a:gd name="adj" fmla="val 2143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7ACFD7C-6B7F-40DF-9E9F-370063E64B8E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918210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8DBDE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C56E91-9DB2-4445-98AF-D8F0159ADC72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Seleccionar  ·  revisar vigencia  ·  imprimir en lote</a:t>
            </a:r>
          </a:p>
        </p:txBody>
      </p:sp>
    </p:spTree>
    <p:extLst>
      <p:ext uri="{BB962C8B-B14F-4D97-AF65-F5344CB8AC3E}">
        <p14:creationId xmlns:p14="http://schemas.microsoft.com/office/powerpoint/2010/main" val="122699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5164"/>
    </mc:Choice>
    <mc:Fallback>
      <p:transition advClick="0" advTm="1516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6-title">
            <a:extLst>
              <a:ext uri="{FF2B5EF4-FFF2-40B4-BE49-F238E27FC236}">
                <a16:creationId xmlns:a16="http://schemas.microsoft.com/office/drawing/2014/main" id="{BCF061FB-68B1-48AA-964D-3B69D2D180C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Promociones vigentes listas para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596B7F-B491-4751-92A7-B26E73197A2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109BB52-B3F3-4EE1-8023-64F4733007A2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7AAC169-C092-4351-8D1A-7F2DA0AC8D8A}"/>
              </a:ext>
            </a:extLst>
          </p:cNvPr>
          <p:cNvSpPr>
            <a:spLocks noGrp="1"/>
          </p:cNvSpPr>
          <p:nvPr/>
        </p:nvSpPr>
        <p:spPr>
          <a:xfrm>
            <a:off x="1019175" y="1162050"/>
            <a:ext cx="10153650" cy="55245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5375" y="1239377"/>
            <a:ext cx="10001250" cy="5369847"/>
          </a:xfrm>
          <a:prstGeom prst="roundRect">
            <a:avLst>
              <a:gd name="adj" fmla="val 2128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74BA91F-A040-4D32-BFE3-D8C01A323ABD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9334500" cy="838200"/>
          </a:xfrm>
          <a:prstGeom prst="roundRect">
            <a:avLst>
              <a:gd name="adj" fmla="val 13636"/>
            </a:avLst>
          </a:prstGeom>
          <a:solidFill>
            <a:srgbClr val="171717">
              <a:alpha val="90980"/>
            </a:srgbClr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49C3B4-143D-4272-9812-FDEE06F97610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Precio regular, precio especial, existencia y vigencia en una sola revisión.</a:t>
            </a:r>
          </a:p>
        </p:txBody>
      </p:sp>
    </p:spTree>
    <p:extLst>
      <p:ext uri="{BB962C8B-B14F-4D97-AF65-F5344CB8AC3E}">
        <p14:creationId xmlns:p14="http://schemas.microsoft.com/office/powerpoint/2010/main" val="1800951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6142"/>
    </mc:Choice>
    <mc:Fallback>
      <p:transition advClick="0" advTm="1614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7-title">
            <a:extLst>
              <a:ext uri="{FF2B5EF4-FFF2-40B4-BE49-F238E27FC236}">
                <a16:creationId xmlns:a16="http://schemas.microsoft.com/office/drawing/2014/main" id="{F3ED4CE7-A93F-49BB-8387-B039E281E68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promoción comunica el ahorro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AEFFA0-CFCA-4C43-B0AB-FF68D7D59874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C9CCEB-3486-4383-9124-F8FEC9CDEF46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85E4FC6-8C56-4EA5-9202-129CCCCF096D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nuevo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202744-7ACE-4172-816E-F8DCCCBD54F5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Ahorro visible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853AE1-60CE-402A-BCB1-DAC2A4E5418A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anterior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8DAE87-0CB9-4846-9274-E519E8271035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 y condiciones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5841EA-3B73-4104-906E-C3E8CD5EB1EA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3429000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A674AA5-9713-4DBC-9F2B-48E40AF1B750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El formato destaca la promoción sin perder la información operativa.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20A5D2-AD39-4DB3-814F-592465ADF675}"/>
              </a:ext>
            </a:extLst>
          </p:cNvPr>
          <p:cNvSpPr>
            <a:spLocks noGrp="1"/>
          </p:cNvSpPr>
          <p:nvPr/>
        </p:nvSpPr>
        <p:spPr>
          <a:xfrm>
            <a:off x="5019675" y="1162050"/>
            <a:ext cx="6343650" cy="477202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5875" y="1246533"/>
            <a:ext cx="6191250" cy="4603060"/>
          </a:xfrm>
          <a:prstGeom prst="roundRect">
            <a:avLst>
              <a:gd name="adj" fmla="val 2474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8AFC207E-F19A-4262-B162-30286EC354A9}"/>
              </a:ext>
            </a:extLst>
          </p:cNvPr>
          <p:cNvSpPr>
            <a:spLocks noGrp="1"/>
          </p:cNvSpPr>
          <p:nvPr/>
        </p:nvSpPr>
        <p:spPr>
          <a:xfrm>
            <a:off x="5095875" y="61531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Ejemplo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212305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5309"/>
    </mc:Choice>
    <mc:Fallback>
      <p:transition advClick="0" advTm="1530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8E945BF-0E7E-44E3-8A88-F4CF809693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9333" y="609600"/>
            <a:ext cx="2538984" cy="6477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5F006C7C-4077-4530-8FB8-E45F9D646EA6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 flujo claro de principio a fin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619A5FD-A290-4D2E-AF1E-BE67D1D5B59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BUSCA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729ECF4-41A4-42A6-8A4A-AB897FC78C5C}"/>
              </a:ext>
            </a:extLst>
          </p:cNvPr>
          <p:cNvSpPr>
            <a:spLocks noGrp="1"/>
          </p:cNvSpPr>
          <p:nvPr/>
        </p:nvSpPr>
        <p:spPr>
          <a:xfrm>
            <a:off x="3190875" y="31432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REVISA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31FC93-9508-4B4F-BB48-77A24C1A90DE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SELECCIONA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AD7024-82BA-4CAA-BB1C-4A86D7B8E993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IMPRIME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BD320-2954-4989-8B96-49193EEE2231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572750" cy="28575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FE2A465-B851-4919-945C-10D7AD2B7E8A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9334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Etiquetador 80 mm centraliza la consulta, la validación visual y la salida de etiquetas para la operación diaria.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F90179-2E65-4F10-8BE5-E77B45C4C743}"/>
              </a:ext>
            </a:extLst>
          </p:cNvPr>
          <p:cNvSpPr>
            <a:spLocks noGrp="1"/>
          </p:cNvSpPr>
          <p:nvPr/>
        </p:nvSpPr>
        <p:spPr>
          <a:xfrm>
            <a:off x="742950" y="61150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</p:spTree>
    <p:extLst>
      <p:ext uri="{BB962C8B-B14F-4D97-AF65-F5344CB8AC3E}">
        <p14:creationId xmlns:p14="http://schemas.microsoft.com/office/powerpoint/2010/main" val="1377179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4988"/>
    </mc:Choice>
    <mc:Fallback>
      <p:transition advClick="0" advTm="14988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DocSecurity>0</DocSecurity>
  <PresentationFormat>Panorámica</PresentationFormat>
  <Paragraphs>95</Paragraphs>
  <Slides>8</Slides>
  <Notes>8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Manuel Arteaga Murillo</cp:lastModifiedBy>
  <cp:revision>1</cp:revision>
  <dcterms:created xsi:type="dcterms:W3CDTF">2026-07-31T13:42:42Z</dcterms:created>
  <dcterms:modified xsi:type="dcterms:W3CDTF">2026-07-31T13:45:32Z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ab147-624d-4db2-84a2-e44fec95d9f2_Enabled">
    <vt:lpwstr>true</vt:lpwstr>
  </property>
  <property fmtid="{D5CDD505-2E9C-101B-9397-08002B2CF9AE}" pid="3" name="MSIP_Label_b51ab147-624d-4db2-84a2-e44fec95d9f2_SetDate">
    <vt:lpwstr>2026-07-31T13:45:32Z</vt:lpwstr>
  </property>
  <property fmtid="{D5CDD505-2E9C-101B-9397-08002B2CF9AE}" pid="4" name="MSIP_Label_b51ab147-624d-4db2-84a2-e44fec95d9f2_Method">
    <vt:lpwstr>Standard</vt:lpwstr>
  </property>
  <property fmtid="{D5CDD505-2E9C-101B-9397-08002B2CF9AE}" pid="5" name="MSIP_Label_b51ab147-624d-4db2-84a2-e44fec95d9f2_Name">
    <vt:lpwstr>Correo Privado</vt:lpwstr>
  </property>
  <property fmtid="{D5CDD505-2E9C-101B-9397-08002B2CF9AE}" pid="6" name="MSIP_Label_b51ab147-624d-4db2-84a2-e44fec95d9f2_SiteId">
    <vt:lpwstr>510a5d80-26f2-428a-90b1-facf2c20745b</vt:lpwstr>
  </property>
  <property fmtid="{D5CDD505-2E9C-101B-9397-08002B2CF9AE}" pid="7" name="MSIP_Label_b51ab147-624d-4db2-84a2-e44fec95d9f2_ActionId">
    <vt:lpwstr>893558dc-25c4-407e-8227-be2fbf0a5456</vt:lpwstr>
  </property>
  <property fmtid="{D5CDD505-2E9C-101B-9397-08002B2CF9AE}" pid="8" name="MSIP_Label_b51ab147-624d-4db2-84a2-e44fec95d9f2_ContentBits">
    <vt:lpwstr>7</vt:lpwstr>
  </property>
  <property fmtid="{D5CDD505-2E9C-101B-9397-08002B2CF9AE}" pid="9" name="MSIP_Label_b51ab147-624d-4db2-84a2-e44fec95d9f2_Tag">
    <vt:lpwstr>10, 3, 0, 1</vt:lpwstr>
  </property>
  <property fmtid="{D5CDD505-2E9C-101B-9397-08002B2CF9AE}" pid="10" name="ClassificationContentMarkingFooterLocations">
    <vt:lpwstr>ChatGPT:6</vt:lpwstr>
  </property>
  <property fmtid="{D5CDD505-2E9C-101B-9397-08002B2CF9AE}" pid="11" name="ClassificationContentMarkingFooterText">
    <vt:lpwstr>Privado</vt:lpwstr>
  </property>
  <property fmtid="{D5CDD505-2E9C-101B-9397-08002B2CF9AE}" pid="12" name="ClassificationContentMarkingHeaderLocations">
    <vt:lpwstr>ChatGPT:5</vt:lpwstr>
  </property>
  <property fmtid="{D5CDD505-2E9C-101B-9397-08002B2CF9AE}" pid="13" name="ClassificationContentMarkingHeaderText">
    <vt:lpwstr>Privado</vt:lpwstr>
  </property>
  <property fmtid="{D5CDD505-2E9C-101B-9397-08002B2CF9AE}" pid="14" name="ClassificationWatermarkLocations">
    <vt:lpwstr>ChatGPT:7</vt:lpwstr>
  </property>
  <property fmtid="{D5CDD505-2E9C-101B-9397-08002B2CF9AE}" pid="15" name="ClassificationWatermarkText">
    <vt:lpwstr>Privado</vt:lpwstr>
  </property>
</Properties>
</file>